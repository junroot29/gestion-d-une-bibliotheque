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63" r:id="rId17"/>
    <p:sldId id="264" r:id="rId18"/>
    <p:sldId id="265" r:id="rId19"/>
    <p:sldId id="276" r:id="rId20"/>
  </p:sldIdLst>
  <p:sldSz cx="14630400" cy="8229600"/>
  <p:notesSz cx="8229600" cy="14630400"/>
  <p:embeddedFontLst>
    <p:embeddedFont>
      <p:font typeface="Barlow Light" panose="00000400000000000000" pitchFamily="2" charset="0"/>
      <p:regular r:id="rId22"/>
      <p:italic r:id="rId23"/>
    </p:embeddedFont>
    <p:embeddedFont>
      <p:font typeface="Berlin Sans FB" panose="020E0602020502020306" pitchFamily="34" charset="0"/>
      <p:regular r:id="rId24"/>
      <p:bold r:id="rId25"/>
    </p:embeddedFont>
    <p:embeddedFont>
      <p:font typeface="Garamond" panose="02020404030301010803" pitchFamily="18" charset="0"/>
      <p:regular r:id="rId26"/>
      <p:bold r:id="rId27"/>
      <p:italic r:id="rId28"/>
    </p:embeddedFont>
    <p:embeddedFont>
      <p:font typeface="Montserrat" panose="00000500000000000000" pitchFamily="2" charset="0"/>
      <p:regular r:id="rId29"/>
      <p:bold r:id="rId3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43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550AC-F5B6-E56A-3357-FDD90EB1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BC1F6-9843-DFD8-DD47-0BEB369BD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2A76B-EEDC-6F4F-378F-79840012D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2DC08-D93C-506E-CD4E-5CDCDB5F2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50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fif"/><Relationship Id="rId4" Type="http://schemas.openxmlformats.org/officeDocument/2006/relationships/image" Target="../media/image4.jf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37279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PROJET DE FIN DE MODULE – GÉNIE LOGICIEL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123134"/>
            <a:ext cx="76273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Modélisation et développement d’un Système de Gestion de Bibliothèque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b="1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AGBENONZAN Kossivi Jacques Junior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Licence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 (RIST) — Année 2025–2026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b="1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Encadreur : Dr GBAME</a:t>
            </a:r>
            <a:endParaRPr lang="en-US" sz="1700" b="1" dirty="0"/>
          </a:p>
        </p:txBody>
      </p:sp>
      <p:sp>
        <p:nvSpPr>
          <p:cNvPr id="5" name="Zone de texte 3">
            <a:extLst>
              <a:ext uri="{FF2B5EF4-FFF2-40B4-BE49-F238E27FC236}">
                <a16:creationId xmlns:a16="http://schemas.microsoft.com/office/drawing/2014/main" id="{F91C7DB1-B9CE-4E7C-69B3-44CD508CAF5C}"/>
              </a:ext>
            </a:extLst>
          </p:cNvPr>
          <p:cNvSpPr txBox="1"/>
          <p:nvPr/>
        </p:nvSpPr>
        <p:spPr>
          <a:xfrm>
            <a:off x="5997515" y="1753236"/>
            <a:ext cx="1991360" cy="29464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050">
                <a:effectLst/>
                <a:latin typeface="Berlin Sans FB" panose="020E06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Union – Discipline - Travail</a:t>
            </a:r>
            <a:endParaRPr lang="fr-FR" sz="105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 descr="Une image contenant texte, capture d’écran, Graphique, Police&#10;&#10;Le contenu généré par l’IA peut être incorrect.">
            <a:extLst>
              <a:ext uri="{FF2B5EF4-FFF2-40B4-BE49-F238E27FC236}">
                <a16:creationId xmlns:a16="http://schemas.microsoft.com/office/drawing/2014/main" id="{6A7C0593-F9E1-4D11-A8F4-09A2A83020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1" t="14190" r="3342" b="9177"/>
          <a:stretch/>
        </p:blipFill>
        <p:spPr bwMode="auto">
          <a:xfrm>
            <a:off x="806390" y="970916"/>
            <a:ext cx="2052955" cy="7778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6" descr="Une image contenant Police, Bleu électrique, symbole, logo&#10;&#10;Le contenu généré par l’IA peut être incorrect.">
            <a:extLst>
              <a:ext uri="{FF2B5EF4-FFF2-40B4-BE49-F238E27FC236}">
                <a16:creationId xmlns:a16="http://schemas.microsoft.com/office/drawing/2014/main" id="{A54754FC-FC13-5997-D37A-BDF680C6E6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440" y="836296"/>
            <a:ext cx="1564005" cy="943610"/>
          </a:xfrm>
          <a:prstGeom prst="rect">
            <a:avLst/>
          </a:prstGeom>
        </p:spPr>
      </p:pic>
      <p:pic>
        <p:nvPicPr>
          <p:cNvPr id="8" name="Image 7" descr="Une image contenant clipart, dessin humoristique, dessin, écusson&#10;&#10;Le contenu généré par l’IA peut être incorrect.">
            <a:extLst>
              <a:ext uri="{FF2B5EF4-FFF2-40B4-BE49-F238E27FC236}">
                <a16:creationId xmlns:a16="http://schemas.microsoft.com/office/drawing/2014/main" id="{899FCD4C-C2E6-6C14-28DE-40BADF2A78F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7" r="8627"/>
          <a:stretch/>
        </p:blipFill>
        <p:spPr bwMode="auto">
          <a:xfrm>
            <a:off x="6181665" y="676276"/>
            <a:ext cx="1390650" cy="11322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Image 8" descr="Une image contenant Police, logo, cercle, clipart&#10;&#10;Le contenu généré par l’IA peut être incorrect.">
            <a:extLst>
              <a:ext uri="{FF2B5EF4-FFF2-40B4-BE49-F238E27FC236}">
                <a16:creationId xmlns:a16="http://schemas.microsoft.com/office/drawing/2014/main" id="{D2363795-C85D-97F7-4300-6CDFBA66E9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665" y="766446"/>
            <a:ext cx="1424940" cy="1036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913" y="693539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Contexte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159919"/>
            <a:ext cx="1215271" cy="7510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4328" y="3159919"/>
            <a:ext cx="27047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Projet académique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44328" y="3646051"/>
            <a:ext cx="2704743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réalisée dans le cadre du module de génie logiciel pour appliquer les bonnes pratiques de modélisation et d'implémentation.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3159919"/>
            <a:ext cx="1215271" cy="7510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05838" y="3159919"/>
            <a:ext cx="27047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Mise en pratique UML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05838" y="3646051"/>
            <a:ext cx="2704743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Utilisation de diagrammes UML pour spécifier les exigences, la structure et les interactions du système.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3159919"/>
            <a:ext cx="1215271" cy="7510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348" y="3159919"/>
            <a:ext cx="270474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Prototype fonctionnel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348" y="4002286"/>
            <a:ext cx="2704743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 d'une application web légère en Python pour valider les modèles et les cas d'usage.</a:t>
            </a:r>
            <a:endParaRPr lang="en-US" sz="17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52BBF93-E898-D53F-906D-185C560EE8EC}"/>
              </a:ext>
            </a:extLst>
          </p:cNvPr>
          <p:cNvSpPr/>
          <p:nvPr/>
        </p:nvSpPr>
        <p:spPr>
          <a:xfrm>
            <a:off x="621208" y="1940100"/>
            <a:ext cx="13455279" cy="94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fr-FR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le cadre de notre formation, ce projet visait à mettre en pratique les concepts de modélisation orientée objet.</a:t>
            </a:r>
          </a:p>
          <a:p>
            <a:pPr>
              <a:lnSpc>
                <a:spcPts val="2700"/>
              </a:lnSpc>
            </a:pPr>
            <a:r>
              <a:rPr lang="fr-FR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ne s’agissait pas seulement de coder, mais de réfléchir à la structure du système avant son développement.</a:t>
            </a:r>
            <a:endParaRPr lang="en-US" dirty="0"/>
          </a:p>
        </p:txBody>
      </p:sp>
      <p:pic>
        <p:nvPicPr>
          <p:cNvPr id="14" name="Image 13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1F11AB23-EE05-38D5-C939-B644D47AA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3307" y="7375815"/>
            <a:ext cx="2800741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406247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Objectifs du projet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58309" y="2301240"/>
            <a:ext cx="2398038" cy="3024307"/>
          </a:xfrm>
          <a:prstGeom prst="roundRect">
            <a:avLst>
              <a:gd name="adj" fmla="val 1355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2525435"/>
            <a:ext cx="19496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Modélisation UML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3367802"/>
            <a:ext cx="194964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Formaliser les exigences avec cas d'utilisation, classes et séquences.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372922" y="2301240"/>
            <a:ext cx="2398038" cy="3024307"/>
          </a:xfrm>
          <a:prstGeom prst="roundRect">
            <a:avLst>
              <a:gd name="adj" fmla="val 1355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97116" y="2525435"/>
            <a:ext cx="19496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 logicielle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597116" y="3367802"/>
            <a:ext cx="194964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Concevoir une architecture claire, maintenable et testable.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7534" y="2301240"/>
            <a:ext cx="2398038" cy="3024307"/>
          </a:xfrm>
          <a:prstGeom prst="roundRect">
            <a:avLst>
              <a:gd name="adj" fmla="val 1355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1729" y="2525435"/>
            <a:ext cx="19496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Implémentation Python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11729" y="3367802"/>
            <a:ext cx="194964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Développer un prototype web (Flask) couvrant les usages principaux.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5542121"/>
            <a:ext cx="76272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2504" y="576631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Fonctionnalités clés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82504" y="6252448"/>
            <a:ext cx="717887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Emprunts, retours, réservations et gestion des usagers.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79476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Analyse UML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527446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Diagrammes réalisés : diagramme de cas d’utilisation, diagramme de classes et diagrammes de séquence.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5864900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 : fournir une représentation formelle de la structure (classes, relations) et du comportement (scénarios d’interaction) pour guider le développement.</a:t>
            </a:r>
            <a:endParaRPr lang="en-US" sz="1700" dirty="0"/>
          </a:p>
        </p:txBody>
      </p:sp>
      <p:pic>
        <p:nvPicPr>
          <p:cNvPr id="7" name="Image 6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F30FFE37-5E78-364E-4662-519A79DBD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097881"/>
            <a:ext cx="4246126" cy="40337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01176" y="2467332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Acteurs principaux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5601176" y="3281124"/>
            <a:ext cx="4000619" cy="2453759"/>
          </a:xfrm>
          <a:prstGeom prst="roundRect">
            <a:avLst>
              <a:gd name="adj" fmla="val 13245"/>
            </a:avLst>
          </a:prstGeom>
          <a:noFill/>
          <a:ln w="3048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48231" y="352817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Usager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848231" y="4100989"/>
            <a:ext cx="350651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Inscription, consultation du catalogue, demande d'emprunt, réservation.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818370" y="3281124"/>
            <a:ext cx="4000738" cy="2453759"/>
          </a:xfrm>
          <a:prstGeom prst="roundRect">
            <a:avLst>
              <a:gd name="adj" fmla="val 13245"/>
            </a:avLst>
          </a:prstGeom>
          <a:noFill/>
          <a:ln w="3048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65425" y="352817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Administrateur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65425" y="4100989"/>
            <a:ext cx="350662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ouvrages, validation des emprunts, gestion des retours, suspension des comptes.</a:t>
            </a:r>
            <a:endParaRPr lang="en-US" sz="1700" dirty="0"/>
          </a:p>
        </p:txBody>
      </p:sp>
      <p:pic>
        <p:nvPicPr>
          <p:cNvPr id="10" name="Image 9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5F917E92-A657-0714-0A1C-F5B760556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3F2CAC7A-B8CA-C003-D042-29868EC7C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933337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Diagramme de classes — Vue synthétique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3398401"/>
            <a:ext cx="76273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Classes principales :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Livre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DemandeEmprunt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Emprunt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Réservation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 essentielles : un utilisateur peut avoir plusieurs emprunts ; un livre peut être lié à plusieurs réservations.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5028962"/>
            <a:ext cx="7627382" cy="1267182"/>
          </a:xfrm>
          <a:prstGeom prst="roundRect">
            <a:avLst>
              <a:gd name="adj" fmla="val 25647"/>
            </a:avLst>
          </a:prstGeom>
          <a:solidFill>
            <a:srgbClr val="BEDFF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84" y="5361503"/>
            <a:ext cx="270748" cy="2165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2207" y="5299591"/>
            <a:ext cx="670691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Diagramme conçu pour favoriser la séparation des responsabilités et faciliter la persistance (ORM).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diagramme, capture d’écran, Police">
            <a:extLst>
              <a:ext uri="{FF2B5EF4-FFF2-40B4-BE49-F238E27FC236}">
                <a16:creationId xmlns:a16="http://schemas.microsoft.com/office/drawing/2014/main" id="{C00006FA-FC55-68C4-98A5-5393252C3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28612"/>
            <a:ext cx="14592300" cy="790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5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CEFC2CB0-5DDC-A3A5-5AEA-1CE1F7A6E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  <p:pic>
        <p:nvPicPr>
          <p:cNvPr id="2" name="Image 0">
            <a:extLst>
              <a:ext uri="{FF2B5EF4-FFF2-40B4-BE49-F238E27FC236}">
                <a16:creationId xmlns:a16="http://schemas.microsoft.com/office/drawing/2014/main" id="{CB9A8450-7B37-606C-9B8A-01456E913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556"/>
          <a:stretch>
            <a:fillRect/>
          </a:stretch>
        </p:blipFill>
        <p:spPr>
          <a:xfrm>
            <a:off x="8869680" y="112487"/>
            <a:ext cx="5144494" cy="800462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3321BBB-7EBE-1A61-3827-E84B7E4A1A1B}"/>
              </a:ext>
            </a:extLst>
          </p:cNvPr>
          <p:cNvSpPr/>
          <p:nvPr/>
        </p:nvSpPr>
        <p:spPr>
          <a:xfrm>
            <a:off x="758309" y="1933337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Diagramme de Cas </a:t>
            </a:r>
            <a:r>
              <a:rPr lang="en-US" sz="35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d’utilisation</a:t>
            </a:r>
            <a:endParaRPr lang="en-US" sz="35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8391C5C-1E80-4270-77B5-47A482E6CAF7}"/>
              </a:ext>
            </a:extLst>
          </p:cNvPr>
          <p:cNvSpPr/>
          <p:nvPr/>
        </p:nvSpPr>
        <p:spPr>
          <a:xfrm>
            <a:off x="758309" y="3398401"/>
            <a:ext cx="76273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système repose sur deux acteurs principaux :</a:t>
            </a:r>
          </a:p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L’usager, qui interagit avec la bibliothèque.</a:t>
            </a:r>
          </a:p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L’administrateur, qui supervise et contrôle le système.</a:t>
            </a:r>
          </a:p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Cette séparation garantit une bonne gestion des rôles.</a:t>
            </a:r>
            <a:endParaRPr lang="en-US" sz="17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A7DF3AB-0346-9947-03AF-CCC6A2F8AEF6}"/>
              </a:ext>
            </a:extLst>
          </p:cNvPr>
          <p:cNvSpPr/>
          <p:nvPr/>
        </p:nvSpPr>
        <p:spPr>
          <a:xfrm>
            <a:off x="758309" y="5028962"/>
            <a:ext cx="7627382" cy="1267182"/>
          </a:xfrm>
          <a:prstGeom prst="roundRect">
            <a:avLst>
              <a:gd name="adj" fmla="val 25647"/>
            </a:avLst>
          </a:prstGeom>
          <a:solidFill>
            <a:srgbClr val="BEDFF3"/>
          </a:solidFill>
          <a:ln/>
        </p:spPr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04AB7494-AFD3-6CD2-FB4D-470C5CDE7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84" y="5361503"/>
            <a:ext cx="270748" cy="21657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85B5884-B277-23C1-1F76-03BFD7115E46}"/>
              </a:ext>
            </a:extLst>
          </p:cNvPr>
          <p:cNvSpPr/>
          <p:nvPr/>
        </p:nvSpPr>
        <p:spPr>
          <a:xfrm>
            <a:off x="1462207" y="5299591"/>
            <a:ext cx="670691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Diagramme conçu pour favoriser la séparation des responsabilités et faciliter la persistance (ORM).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44930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diagramme, croquis, dessin">
            <a:extLst>
              <a:ext uri="{FF2B5EF4-FFF2-40B4-BE49-F238E27FC236}">
                <a16:creationId xmlns:a16="http://schemas.microsoft.com/office/drawing/2014/main" id="{3BBCA8F9-7E6E-763C-FD71-B3D41295E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64296" y="0"/>
            <a:ext cx="8885582" cy="8229600"/>
          </a:xfrm>
          <a:prstGeom prst="rect">
            <a:avLst/>
          </a:prstGeom>
        </p:spPr>
      </p:pic>
      <p:pic>
        <p:nvPicPr>
          <p:cNvPr id="4" name="Image 3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41483568-1DC5-EACD-5A28-C1C91224B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10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52963A6-FB2D-C3DE-7EF6-2CBD9C086B7B}"/>
              </a:ext>
            </a:extLst>
          </p:cNvPr>
          <p:cNvSpPr/>
          <p:nvPr/>
        </p:nvSpPr>
        <p:spPr>
          <a:xfrm>
            <a:off x="758309" y="1933337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Diagramme</a:t>
            </a: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35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Séquences</a:t>
            </a:r>
            <a:endParaRPr lang="en-US" sz="35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C3772C9-67E6-22A5-BFD2-55BF6F740096}"/>
              </a:ext>
            </a:extLst>
          </p:cNvPr>
          <p:cNvSpPr/>
          <p:nvPr/>
        </p:nvSpPr>
        <p:spPr>
          <a:xfrm>
            <a:off x="758309" y="2930009"/>
            <a:ext cx="7627382" cy="259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 diagrammes montrent comment les actions se déroulent dans le temps.</a:t>
            </a:r>
          </a:p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exemple, lors d’une </a:t>
            </a:r>
            <a:r>
              <a:rPr lang="fr-FR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demande d’emprunt</a:t>
            </a: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le </a:t>
            </a:r>
            <a:r>
              <a:rPr lang="fr-FR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système vérifie les conditions avant validation.</a:t>
            </a:r>
          </a:p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Cela garantit le respect des règles de gestion.</a:t>
            </a:r>
            <a:endParaRPr lang="en-US" sz="17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2E35FCD-4E29-DB14-75E2-538332397C1A}"/>
              </a:ext>
            </a:extLst>
          </p:cNvPr>
          <p:cNvSpPr/>
          <p:nvPr/>
        </p:nvSpPr>
        <p:spPr>
          <a:xfrm>
            <a:off x="758309" y="5028962"/>
            <a:ext cx="7627382" cy="1267182"/>
          </a:xfrm>
          <a:prstGeom prst="roundRect">
            <a:avLst>
              <a:gd name="adj" fmla="val 25647"/>
            </a:avLst>
          </a:prstGeom>
          <a:solidFill>
            <a:srgbClr val="BEDFF3"/>
          </a:solidFill>
          <a:ln/>
        </p:spPr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292095EE-84FD-96FD-9A6B-5FEFD0E6D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84" y="5361503"/>
            <a:ext cx="270748" cy="21657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72A8E1F-9A11-CD59-3EB8-5A5E89750066}"/>
              </a:ext>
            </a:extLst>
          </p:cNvPr>
          <p:cNvSpPr/>
          <p:nvPr/>
        </p:nvSpPr>
        <p:spPr>
          <a:xfrm>
            <a:off x="1462207" y="5299591"/>
            <a:ext cx="670691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Diagramme conçu pour favoriser la séparation des responsabilités et faciliter la persistance (ORM).</a:t>
            </a:r>
            <a:endParaRPr lang="en-US" sz="1700" dirty="0"/>
          </a:p>
        </p:txBody>
      </p:sp>
      <p:pic>
        <p:nvPicPr>
          <p:cNvPr id="9" name="Image 8" descr="Une image contenant texte, capture d’écran, Police, Parallèle&#10;&#10;Le contenu généré par l’IA peut être incorrect.">
            <a:extLst>
              <a:ext uri="{FF2B5EF4-FFF2-40B4-BE49-F238E27FC236}">
                <a16:creationId xmlns:a16="http://schemas.microsoft.com/office/drawing/2014/main" id="{473AF5F2-F16C-6521-0DCB-E126160BB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8602266" y="0"/>
            <a:ext cx="620578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05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arallèle, Police&#10;&#10;Le contenu généré par l’IA peut être incorrect.">
            <a:extLst>
              <a:ext uri="{FF2B5EF4-FFF2-40B4-BE49-F238E27FC236}">
                <a16:creationId xmlns:a16="http://schemas.microsoft.com/office/drawing/2014/main" id="{9E62CDC5-0234-4BAC-8405-0BAE0419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589" y="0"/>
            <a:ext cx="9264811" cy="82296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3E916B8-298D-83BC-CD54-98F172B0085A}"/>
              </a:ext>
            </a:extLst>
          </p:cNvPr>
          <p:cNvSpPr txBox="1"/>
          <p:nvPr/>
        </p:nvSpPr>
        <p:spPr>
          <a:xfrm>
            <a:off x="464023" y="3070746"/>
            <a:ext cx="5092634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Demande, Validation ou Rejet d’emprunt</a:t>
            </a:r>
          </a:p>
        </p:txBody>
      </p:sp>
    </p:spTree>
    <p:extLst>
      <p:ext uri="{BB962C8B-B14F-4D97-AF65-F5344CB8AC3E}">
        <p14:creationId xmlns:p14="http://schemas.microsoft.com/office/powerpoint/2010/main" val="3396471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0BC17F2-BC15-A839-F198-FE3EFE3E5C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5589" y="136478"/>
            <a:ext cx="9264811" cy="809312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06F940E-BFAF-527D-D0F8-BC368E38BFC5}"/>
              </a:ext>
            </a:extLst>
          </p:cNvPr>
          <p:cNvSpPr txBox="1"/>
          <p:nvPr/>
        </p:nvSpPr>
        <p:spPr>
          <a:xfrm>
            <a:off x="464023" y="3070746"/>
            <a:ext cx="5092634" cy="173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Changement et réinitialisation de mot de passe</a:t>
            </a:r>
          </a:p>
        </p:txBody>
      </p:sp>
    </p:spTree>
    <p:extLst>
      <p:ext uri="{BB962C8B-B14F-4D97-AF65-F5344CB8AC3E}">
        <p14:creationId xmlns:p14="http://schemas.microsoft.com/office/powerpoint/2010/main" val="159251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3F36D38-300C-4B23-4EAD-C412E43572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54370" y="68239"/>
            <a:ext cx="8669385" cy="809312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ECFC032-2CB7-F5FE-422E-EEEEA3F6E7B8}"/>
              </a:ext>
            </a:extLst>
          </p:cNvPr>
          <p:cNvSpPr txBox="1"/>
          <p:nvPr/>
        </p:nvSpPr>
        <p:spPr>
          <a:xfrm>
            <a:off x="313898" y="3522329"/>
            <a:ext cx="5092634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Création et gestion des réservations</a:t>
            </a:r>
          </a:p>
        </p:txBody>
      </p:sp>
    </p:spTree>
    <p:extLst>
      <p:ext uri="{BB962C8B-B14F-4D97-AF65-F5344CB8AC3E}">
        <p14:creationId xmlns:p14="http://schemas.microsoft.com/office/powerpoint/2010/main" val="104017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4353CF0-EB71-ED39-3DA6-007819D344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54370" y="0"/>
            <a:ext cx="8669385" cy="82296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6450796-E798-F3AF-0756-EE2A65486E17}"/>
              </a:ext>
            </a:extLst>
          </p:cNvPr>
          <p:cNvSpPr txBox="1"/>
          <p:nvPr/>
        </p:nvSpPr>
        <p:spPr>
          <a:xfrm>
            <a:off x="313898" y="3522329"/>
            <a:ext cx="5092634" cy="63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Retour d’emprunt</a:t>
            </a:r>
          </a:p>
        </p:txBody>
      </p:sp>
    </p:spTree>
    <p:extLst>
      <p:ext uri="{BB962C8B-B14F-4D97-AF65-F5344CB8AC3E}">
        <p14:creationId xmlns:p14="http://schemas.microsoft.com/office/powerpoint/2010/main" val="682874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9A7DE09-833A-AF96-7C0D-6379B2D46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66810" y="0"/>
            <a:ext cx="9956945" cy="82296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23FEBBD-8E4A-BC31-F4FC-396D010549D5}"/>
              </a:ext>
            </a:extLst>
          </p:cNvPr>
          <p:cNvSpPr txBox="1"/>
          <p:nvPr/>
        </p:nvSpPr>
        <p:spPr>
          <a:xfrm>
            <a:off x="106645" y="3522329"/>
            <a:ext cx="4558353" cy="173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</a:rPr>
              <a:t>Suspension Manuelle, Automatique et levée de suspension</a:t>
            </a:r>
          </a:p>
        </p:txBody>
      </p:sp>
    </p:spTree>
    <p:extLst>
      <p:ext uri="{BB962C8B-B14F-4D97-AF65-F5344CB8AC3E}">
        <p14:creationId xmlns:p14="http://schemas.microsoft.com/office/powerpoint/2010/main" val="2263751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9038"/>
          <a:stretch>
            <a:fillRect/>
          </a:stretch>
        </p:blipFill>
        <p:spPr>
          <a:xfrm>
            <a:off x="693421" y="748547"/>
            <a:ext cx="6062222" cy="36187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3465" y="2872026"/>
            <a:ext cx="4311848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 technique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9623465" y="3574375"/>
            <a:ext cx="4321016" cy="60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: </a:t>
            </a:r>
            <a:r>
              <a:rPr lang="en-US" sz="15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</a:t>
            </a: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Base de données : </a:t>
            </a:r>
            <a:r>
              <a:rPr lang="en-US" sz="15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</a:t>
            </a: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Frontend : </a:t>
            </a:r>
            <a:r>
              <a:rPr lang="en-US" sz="15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 / CSS / Jinja2</a:t>
            </a: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" y="4656603"/>
            <a:ext cx="99060" cy="990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2634" y="4551352"/>
            <a:ext cx="2606873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Structure projet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072634" y="4985930"/>
            <a:ext cx="6228398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app.py 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• templates/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• static/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• </a:t>
            </a:r>
            <a:r>
              <a:rPr lang="en-US" sz="15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library.db</a:t>
            </a:r>
            <a:endParaRPr lang="en-US" sz="155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</a:rPr>
              <a:t> . Diagrams/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</a:rPr>
              <a:t> .Rapport de fin de module – Genie logiciel.pdf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</a:rPr>
              <a:t> ….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428" y="6799302"/>
            <a:ext cx="99060" cy="990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08583" y="6694051"/>
            <a:ext cx="2606873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Principes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7708583" y="7128629"/>
            <a:ext cx="6228398" cy="60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Routes REST-ish, modèles simplifiés, couches séparées pour logique et présentation.</a:t>
            </a:r>
            <a:endParaRPr lang="en-US" sz="1550" dirty="0"/>
          </a:p>
        </p:txBody>
      </p:sp>
      <p:pic>
        <p:nvPicPr>
          <p:cNvPr id="11" name="Image 10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F49F3807-EDA2-D2EC-6950-1CDE690E9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795" y="649605"/>
            <a:ext cx="4596884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Workflow de l’application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172795" y="1432084"/>
            <a:ext cx="196096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795" y="1742480"/>
            <a:ext cx="7771209" cy="2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72795" y="1886188"/>
            <a:ext cx="258068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Authentification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172795" y="2315289"/>
            <a:ext cx="777120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Vérification d'identité et gestion de session.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72795" y="2938701"/>
            <a:ext cx="196096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795" y="3229570"/>
            <a:ext cx="7771209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2795" y="3392805"/>
            <a:ext cx="258068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Action utilisateur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172795" y="3821906"/>
            <a:ext cx="777120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Recherche, emprunt, réservation, consultation du compte.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172795" y="4445318"/>
            <a:ext cx="196096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795" y="4716542"/>
            <a:ext cx="7771209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2795" y="4899422"/>
            <a:ext cx="258068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 Mise à jour BD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172795" y="5328523"/>
            <a:ext cx="7771209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Transactions atomiques pour garantir cohérence (emprunt, retour, disponibilité).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172795" y="6250781"/>
            <a:ext cx="196096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795" y="6502479"/>
            <a:ext cx="7771209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172795" y="6704886"/>
            <a:ext cx="258068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4. Retour interface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6172795" y="7133987"/>
            <a:ext cx="777120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utilisateur : confirmations, erreurs, états de réservation.</a:t>
            </a:r>
            <a:endParaRPr lang="en-US" sz="1500" dirty="0"/>
          </a:p>
        </p:txBody>
      </p:sp>
      <p:pic>
        <p:nvPicPr>
          <p:cNvPr id="20" name="Image 19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8BE37230-3D4F-FCE3-B742-67ECCD9E1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03289"/>
            <a:ext cx="7172206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Limites, perspectives et conclusion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506629"/>
            <a:ext cx="2581466" cy="32265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86077" y="36847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Limites actuelles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86077" y="4170878"/>
            <a:ext cx="299811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Sécurité basique, absence de tests automatisés, pas de CI/CD ni notifications email.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493" y="2985860"/>
            <a:ext cx="2998113" cy="3747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51954" y="35066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Perspectives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151954" y="3992761"/>
            <a:ext cx="2998113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Renforcer sécurité, ajouter tests unitaires, déploiement cloud, notifications et amélioration de l'interface.</a:t>
            </a:r>
            <a:endParaRPr lang="en-US" sz="1700" dirty="0"/>
          </a:p>
        </p:txBody>
      </p:sp>
      <p:pic>
        <p:nvPicPr>
          <p:cNvPr id="12" name="Image 1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B9692981-4246-D194-8125-4233BCEA5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8CF1-E856-B300-1860-B4E13D0F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5BA745-BC35-6AA9-14DF-02AEDFB9A863}"/>
              </a:ext>
            </a:extLst>
          </p:cNvPr>
          <p:cNvSpPr/>
          <p:nvPr/>
        </p:nvSpPr>
        <p:spPr>
          <a:xfrm>
            <a:off x="758309" y="2503289"/>
            <a:ext cx="7172206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35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454B3625-B698-CAFE-49AD-CADD44E3D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108601"/>
            <a:ext cx="3254133" cy="406735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CF8FEEE4-A2EE-962B-C9D1-D11AE5E05493}"/>
              </a:ext>
            </a:extLst>
          </p:cNvPr>
          <p:cNvSpPr/>
          <p:nvPr/>
        </p:nvSpPr>
        <p:spPr>
          <a:xfrm>
            <a:off x="3367710" y="332851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B8BE19D-AA39-AFBE-1AF2-93E5CFE763ED}"/>
              </a:ext>
            </a:extLst>
          </p:cNvPr>
          <p:cNvSpPr/>
          <p:nvPr/>
        </p:nvSpPr>
        <p:spPr>
          <a:xfrm>
            <a:off x="4677895" y="3506628"/>
            <a:ext cx="7905341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projet m’a permis de consolider mes compétences en modélisation et en développement, à travailler ma persévérance et ma capacité à corriger les bugs.</a:t>
            </a:r>
          </a:p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représente une étape importante dans mon parcours en ingénierie logicielle.</a:t>
            </a:r>
          </a:p>
          <a:p>
            <a:pPr>
              <a:lnSpc>
                <a:spcPts val="2700"/>
              </a:lnSpc>
            </a:pPr>
            <a:endParaRPr lang="fr-FR" sz="17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ts val="2700"/>
              </a:lnSpc>
            </a:pPr>
            <a:r>
              <a:rPr lang="fr-FR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 vous remercie pour votre attention.</a:t>
            </a:r>
            <a:endParaRPr lang="en-US" sz="1700" dirty="0"/>
          </a:p>
        </p:txBody>
      </p:sp>
      <p:pic>
        <p:nvPicPr>
          <p:cNvPr id="12" name="Image 1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1A4FDDE6-E371-AB5F-470A-2EBA10519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9659" y="7381757"/>
            <a:ext cx="2800741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4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688</Words>
  <Application>Microsoft Office PowerPoint</Application>
  <PresentationFormat>Personnalisé</PresentationFormat>
  <Paragraphs>99</Paragraphs>
  <Slides>19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Berlin Sans FB</vt:lpstr>
      <vt:lpstr>Arial</vt:lpstr>
      <vt:lpstr>Barlow Bold</vt:lpstr>
      <vt:lpstr>Barlow Light</vt:lpstr>
      <vt:lpstr>Garamond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Junior Kossivi</cp:lastModifiedBy>
  <cp:revision>2</cp:revision>
  <dcterms:created xsi:type="dcterms:W3CDTF">2026-02-20T02:18:04Z</dcterms:created>
  <dcterms:modified xsi:type="dcterms:W3CDTF">2026-02-20T02:51:20Z</dcterms:modified>
</cp:coreProperties>
</file>